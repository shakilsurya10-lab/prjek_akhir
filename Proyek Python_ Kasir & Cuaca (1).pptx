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1" r:id="rId16"/>
    <p:sldId id="272" r:id="rId17"/>
    <p:sldId id="268" r:id="rId18"/>
  </p:sldIdLst>
  <p:sldSz cx="12192000" cy="6858000"/>
  <p:notesSz cx="6858000" cy="9144000"/>
  <p:embeddedFontLst>
    <p:embeddedFont>
      <p:font typeface="Calibri" panose="020F0502020204030204"/>
      <p:regular r:id="rId22"/>
      <p:bold r:id="rId23"/>
      <p:italic r:id="rId24"/>
      <p:boldItalic r:id="rId25"/>
    </p:embeddedFont>
    <p:embeddedFont>
      <p:font typeface="Urbanist" panose="020B0A04040200000203"/>
      <p:regular r:id="rId26"/>
      <p:bold r:id="rId27"/>
      <p:italic r:id="rId28"/>
      <p:boldItalic r:id="rId29"/>
    </p:embeddedFont>
    <p:embeddedFont>
      <p:font typeface="Inter" panose="02000503000000020004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4501091-0DF0-4769-BFB7-51C9134A181A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9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cf13da236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g3ecf13da236_0_0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" name="Google Shape;198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" name="Google Shape;215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0" name="Google Shape;230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333500" y="2752725"/>
            <a:ext cx="10001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Solusi Digital Berbasis Python</a:t>
            </a:r>
            <a:endParaRPr lang="en-US" sz="24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3305175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Pengembangan Aplikasi Kasir Sederhana &amp;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Informasi Cuaca Real-Time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2887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35900" y="533400"/>
            <a:ext cx="5200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Bio Data:</a:t>
            </a:r>
            <a:endParaRPr lang="en-US" sz="5400" b="1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35900" y="1963550"/>
            <a:ext cx="74655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Nama: Shakil Surya Ramadhan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Asal: Bekasi</a:t>
            </a:r>
            <a:br>
              <a:rPr lang="en-US">
                <a:solidFill>
                  <a:schemeClr val="lt1"/>
                </a:solidFill>
              </a:rPr>
            </a:br>
            <a:r>
              <a:rPr lang="en-US">
                <a:solidFill>
                  <a:schemeClr val="lt1"/>
                </a:solidFill>
              </a:rPr>
              <a:t>Kelas: Intro to Python</a:t>
            </a:r>
            <a:br>
              <a:rPr lang="en-US">
                <a:solidFill>
                  <a:schemeClr val="lt1"/>
                </a:solidFill>
              </a:rPr>
            </a:br>
            <a:r>
              <a:rPr lang="en-US">
                <a:solidFill>
                  <a:schemeClr val="lt1"/>
                </a:solidFill>
              </a:rPr>
              <a:t>Tanggal Pembelajaran: 10 May 2026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Alasan Mengikuti Kelas: 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1.Python adalah bahasa pemrograman yang sangat populer dan serbaguna. Saya mengikuti kelas ini agar memiliki keterampilan dasar yang relevan untuk transisi karier ke bidang teknologi masa depan, seperti </a:t>
            </a:r>
            <a:r>
              <a:rPr lang="en-US" sz="1100" i="1">
                <a:solidFill>
                  <a:schemeClr val="lt1"/>
                </a:solidFill>
              </a:rPr>
              <a:t>Data Science</a:t>
            </a:r>
            <a:r>
              <a:rPr lang="en-US" sz="1100">
                <a:solidFill>
                  <a:schemeClr val="lt1"/>
                </a:solidFill>
              </a:rPr>
              <a:t>, </a:t>
            </a:r>
            <a:r>
              <a:rPr lang="en-US" sz="1100" i="1">
                <a:solidFill>
                  <a:schemeClr val="lt1"/>
                </a:solidFill>
              </a:rPr>
              <a:t>Artificial Intelligence</a:t>
            </a:r>
            <a:r>
              <a:rPr lang="en-US" sz="1100">
                <a:solidFill>
                  <a:schemeClr val="lt1"/>
                </a:solidFill>
              </a:rPr>
              <a:t>, atau </a:t>
            </a:r>
            <a:r>
              <a:rPr lang="en-US" sz="1100" i="1">
                <a:solidFill>
                  <a:schemeClr val="lt1"/>
                </a:solidFill>
              </a:rPr>
              <a:t>Blockchain development</a:t>
            </a:r>
            <a:r>
              <a:rPr lang="en-US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2.Alasan saya mengikuti kelas ini adalah untuk meningkatkan daya saing di dunia industri. Python dikenal memiliki sintaksis yang efisien dan banyak digunakan untuk otomatisasi sistem serta pengolahan data.</a:t>
            </a: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3.Saya ingin mengikuti kelas </a:t>
            </a:r>
            <a:r>
              <a:rPr lang="en-US" sz="1100" i="1">
                <a:solidFill>
                  <a:schemeClr val="lt1"/>
                </a:solidFill>
              </a:rPr>
              <a:t>Intro to Python</a:t>
            </a:r>
            <a:r>
              <a:rPr lang="en-US" sz="1100">
                <a:solidFill>
                  <a:schemeClr val="lt1"/>
                </a:solidFill>
              </a:rPr>
              <a:t> untuk membangun fondasi logika pemrograman yang kuat, karena Python merupakan salah satu bahasa dasar yang sangat penting untuk mendukung perkuliahan saya di bidang teknologi.</a:t>
            </a: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Sebagai mahasiswa yang ingin mendalami rumpun ilmu komputer, menguasai Python di kelas ini akan membantu saya memahami konsep algoritma dan struktur data dengan lebih mudah.</a:t>
            </a: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5619750" y="2647950"/>
            <a:ext cx="952500" cy="573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3495675" y="2990850"/>
            <a:ext cx="5200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01. Pendahuluan</a:t>
            </a:r>
            <a:endParaRPr lang="en-US" sz="5400" b="1" i="0" u="none" strike="noStrike" cap="none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619500" y="4000500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Latar Belakang, Tujuan, dan Visi Proyek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409825"/>
            <a:ext cx="52387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409825"/>
            <a:ext cx="523875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866775" y="3362325"/>
            <a:ext cx="30603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Tantangan Operasional</a:t>
            </a:r>
            <a:endParaRPr lang="en-US" sz="21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866775" y="4019550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Banyak UMKM masih mengandalkan perhitungan manual yang rentan terhadap kesalahan (*human error*) dan lambat dalam proses transaksi.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6677025" y="3362325"/>
            <a:ext cx="26403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Kebutuhan Informasi</a:t>
            </a:r>
            <a:endParaRPr lang="en-US" sz="21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6677025" y="4019550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Akses cepat terhadap data cuaca krusial bagi mobilitas masyarakat, namun seringkali memerlukan navigasi aplikasi yang kompleks.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14" name="Google Shape;114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66775" y="274320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77025" y="27432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800100" y="571500"/>
            <a:ext cx="1136142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Latar Belakang Proyek</a:t>
            </a:r>
            <a:endParaRPr lang="en-US" sz="3900" b="1" i="0" u="none" strike="noStrike" cap="none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952500" y="275272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Digitalisasi Transaksi: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Mengganti sistem pencatatan manual dengan otomatisasi berbasis kode untuk akurasi data.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952500" y="329565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Integrasi Data Luar: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Memanfaatkan API (OpenWeatherMap) untuk menarik data cuaca dunia secara aktual.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952500" y="383857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Eksplorasi Python: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Mendemonstrasikan fleksibilitas Python dalam menangani logika bisnis dan pemrosesan data web.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952500" y="46863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Antarmuka Ramah Pengguna: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Membangun fungsionalitas yang mudah dijalankan bahkan oleh pengguna awam.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27" name="Google Shape;127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790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3337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8766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7244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800100" y="571500"/>
            <a:ext cx="1136142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Tujuan Utama Proyek</a:t>
            </a:r>
            <a:endParaRPr lang="en-US" sz="3900" b="1" i="0" u="none" strike="noStrike" cap="none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409825"/>
            <a:ext cx="349254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409825"/>
            <a:ext cx="349254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409825"/>
            <a:ext cx="3492549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866775" y="3362325"/>
            <a:ext cx="133016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Python 3.x</a:t>
            </a:r>
            <a:endParaRPr lang="en-US" sz="21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866775" y="40195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Bahasa utama untuk pemrosesan logika, kontrol alur, dan manipulasi data.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645074" y="3362325"/>
            <a:ext cx="1600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Requests Lib</a:t>
            </a:r>
            <a:endParaRPr lang="en-US" sz="21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645074" y="40195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Modul untuk melakukan HTTP requests guna mengambil data dari server API eksternal.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8423374" y="3362325"/>
            <a:ext cx="231028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OpenWeather API</a:t>
            </a:r>
            <a:endParaRPr lang="en-US" sz="21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8423374" y="40195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Penyedia data cuaca global yang diintegrasikan ke dalam sistem aplikasi.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47" name="Google Shape;147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6775" y="27432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45074" y="27432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23374" y="27432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800100" y="571500"/>
            <a:ext cx="1136142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Fondasi Teknologi</a:t>
            </a:r>
            <a:endParaRPr lang="en-US" sz="3900" b="1" i="0" u="none" strike="noStrike" cap="none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5462270" y="374015"/>
            <a:ext cx="952500" cy="571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365658" y="671830"/>
            <a:ext cx="546068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02. Aplikasi Kasir</a:t>
            </a:r>
            <a:endParaRPr lang="en-US" sz="5400" b="1" i="0" u="none" strike="noStrike" cap="none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3495675" y="6116955"/>
            <a:ext cx="5200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Digitalisasi Point of Sales (POS) Sederhana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1673860"/>
            <a:ext cx="8785225" cy="3983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0097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571500" y="22002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Aplikasi ini dirancang untuk menangani alur transaksi retail dasar secara linear namun efisien.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67" name="Google Shape;167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0097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952500" y="30003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Input barang &amp; harga dinamis.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952500" y="35433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Kalkulasi sub-total otomatis.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952500" y="40862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Fitur manajemen kembalian.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71" name="Google Shape;171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0384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581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1243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800100" y="571500"/>
            <a:ext cx="1136142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Arsitektur Aplikasi Kasir</a:t>
            </a:r>
            <a:endParaRPr lang="en-US" sz="3900" b="1" i="0" u="none" strike="noStrike" cap="none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4432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21"/>
          <p:cNvGraphicFramePr/>
          <p:nvPr/>
        </p:nvGraphicFramePr>
        <p:xfrm>
          <a:off x="571500" y="2181225"/>
          <a:ext cx="11049000" cy="3467125"/>
        </p:xfrm>
        <a:graphic>
          <a:graphicData uri="http://schemas.openxmlformats.org/drawingml/2006/table">
            <a:tbl>
              <a:tblPr firstRow="1" bandRow="1">
                <a:noFill/>
                <a:tableStyleId>{64501091-0DF0-4769-BFB7-51C9134A181A}</a:tableStyleId>
              </a:tblPr>
              <a:tblGrid>
                <a:gridCol w="2419350"/>
                <a:gridCol w="6119525"/>
                <a:gridCol w="2510125"/>
              </a:tblGrid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Fitur Utama</a:t>
                      </a:r>
                      <a:endParaRPr lang="en-US" sz="1500" b="1" i="0" u="none" strike="noStrike" cap="none">
                        <a:solidFill>
                          <a:srgbClr val="2DD4BF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Deskripsi Logika</a:t>
                      </a:r>
                      <a:endParaRPr lang="en-US" sz="1500" b="1" i="0" u="none" strike="noStrike" cap="none">
                        <a:solidFill>
                          <a:srgbClr val="2DD4BF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Output</a:t>
                      </a:r>
                      <a:endParaRPr lang="en-US" sz="1500" b="1" i="0" u="none" strike="noStrike" cap="none">
                        <a:solidFill>
                          <a:srgbClr val="2DD4BF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strike="noStrike" cap="none"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Input Barang</a:t>
                      </a:r>
                      <a:endParaRPr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strike="noStrike" cap="none"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Looping input hingga user mengetik 'selesai'.</a:t>
                      </a:r>
                      <a:endParaRPr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strike="noStrike" cap="none"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List Belanja</a:t>
                      </a:r>
                      <a:endParaRPr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strike="noStrike" cap="none"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Kalkulasi Harga</a:t>
                      </a:r>
                      <a:endParaRPr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strike="noStrike" cap="none"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Operasi aritmatika pada akumulator total.</a:t>
                      </a:r>
                      <a:endParaRPr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strike="noStrike" cap="none"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Total Bayar</a:t>
                      </a:r>
                      <a:endParaRPr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strike="noStrike" cap="none"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Diskon Promo</a:t>
                      </a:r>
                      <a:endParaRPr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strike="noStrike" cap="none"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Kondisional (IF) berdasarkan batas belanja.</a:t>
                      </a:r>
                      <a:endParaRPr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strike="noStrike" cap="none"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Potongan Harga</a:t>
                      </a:r>
                      <a:endParaRPr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strike="noStrike" cap="none"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Struk Digital</a:t>
                      </a:r>
                      <a:endParaRPr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strike="noStrike" cap="none"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Formatting string untuk ringkasan belanja.</a:t>
                      </a:r>
                      <a:endParaRPr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strike="noStrike" cap="none"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Struk Konsol</a:t>
                      </a:r>
                      <a:endParaRPr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1"/>
          <p:cNvSpPr/>
          <p:nvPr/>
        </p:nvSpPr>
        <p:spPr>
          <a:xfrm>
            <a:off x="571500" y="3548062"/>
            <a:ext cx="241935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2990850" y="3548062"/>
            <a:ext cx="611951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9110364" y="3548062"/>
            <a:ext cx="251013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71500" y="4243387"/>
            <a:ext cx="241935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2990850" y="4243387"/>
            <a:ext cx="611951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9110364" y="4243387"/>
            <a:ext cx="251013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71500" y="4938712"/>
            <a:ext cx="241935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2990850" y="4938712"/>
            <a:ext cx="611951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9110364" y="4938712"/>
            <a:ext cx="251013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71500" y="5634037"/>
            <a:ext cx="241935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2990850" y="5634037"/>
            <a:ext cx="611951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9110364" y="5634037"/>
            <a:ext cx="251013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800100" y="571500"/>
            <a:ext cx="1136142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Fungsionalitas Sistem Kasir</a:t>
            </a:r>
            <a:endParaRPr lang="en-US" sz="3900" b="1" i="0" u="none" strike="noStrike" cap="none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/>
          <p:nvPr/>
        </p:nvSpPr>
        <p:spPr>
          <a:xfrm>
            <a:off x="5338445" y="351155"/>
            <a:ext cx="952500" cy="571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2984658" y="660400"/>
            <a:ext cx="594074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03. Aplikasi Cuaca</a:t>
            </a:r>
            <a:endParaRPr lang="en-US" sz="5400" b="1" i="0" u="none" strike="noStrike" cap="none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3126105" y="5970905"/>
            <a:ext cx="5657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Integrasi Informasi Real-Time Global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915" y="1731645"/>
            <a:ext cx="9340850" cy="40906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571500" y="1647825"/>
            <a:ext cx="52006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Aplikasi Cuaca</a:t>
            </a:r>
            <a:endParaRPr lang="en-US" sz="3900" b="1" i="0" u="none" strike="noStrike" cap="none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571500" y="28098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Memanfaatkan kekuatan API, aplikasi ini mampu menarik data cuaca dari kota manapun di dunia dalam hitungan detik.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571500" y="41052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Fitur utama mencakup pembacaan suhu dalam Celsius, deskripsi kondisi (berawan, hujan, cerah), dan tingkat kelembapan udara.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12" name="Google Shape;212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400300"/>
            <a:ext cx="52387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400300"/>
            <a:ext cx="52387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866775" y="3352800"/>
            <a:ext cx="257032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Request &amp; Response</a:t>
            </a:r>
            <a:endParaRPr lang="en-US" sz="21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866775" y="4010025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User memasukkan nama kota → Script mengirim URL request ke OpenWeather → Data diterima dalam format JSON.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6677025" y="3352800"/>
            <a:ext cx="165020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Parsing Data</a:t>
            </a:r>
            <a:endParaRPr lang="en-US" sz="21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6677025" y="4010025"/>
            <a:ext cx="464820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Python mengekstrak kunci spesifik seperti ['main']['temp'] dan ['weather'][0]['description'] untuk ditampilkan.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24" name="Google Shape;224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66775" y="27336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77025" y="27336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 txBox="1"/>
          <p:nvPr/>
        </p:nvSpPr>
        <p:spPr>
          <a:xfrm>
            <a:off x="800100" y="571500"/>
            <a:ext cx="1136142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Mekanisme Kerja API</a:t>
            </a:r>
            <a:endParaRPr lang="en-US" sz="3900" b="1" i="0" u="none" strike="noStrike" cap="none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4432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21"/>
          <p:cNvGraphicFramePr/>
          <p:nvPr/>
        </p:nvGraphicFramePr>
        <p:xfrm>
          <a:off x="571500" y="2181225"/>
          <a:ext cx="11049000" cy="3467125"/>
        </p:xfrm>
        <a:graphic>
          <a:graphicData uri="http://schemas.openxmlformats.org/drawingml/2006/table">
            <a:tbl>
              <a:tblPr firstRow="1" bandRow="1">
                <a:noFill/>
                <a:tableStyleId>{64501091-0DF0-4769-BFB7-51C9134A181A}</a:tableStyleId>
              </a:tblPr>
              <a:tblGrid>
                <a:gridCol w="2419350"/>
                <a:gridCol w="6119525"/>
                <a:gridCol w="2510125"/>
              </a:tblGrid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Fitur Utama</a:t>
                      </a:r>
                      <a:endParaRPr lang="en-US" sz="1500" b="1" i="0" u="none" strike="noStrike" cap="none">
                        <a:solidFill>
                          <a:srgbClr val="2DD4BF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Deskripsi Logika</a:t>
                      </a:r>
                      <a:endParaRPr lang="en-US" sz="1500" b="1" i="0" u="none" strike="noStrike" cap="none">
                        <a:solidFill>
                          <a:srgbClr val="2DD4BF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Output</a:t>
                      </a:r>
                      <a:endParaRPr lang="en-US" sz="1500" b="1" i="0" u="none" strike="noStrike" cap="none">
                        <a:solidFill>
                          <a:srgbClr val="2DD4BF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Input Kota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Perulangan (looping) menerima input nama kota dari user hingga user mengetik 'keluar'.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Nama Kota / Perintah Keluar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Ambil Data API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Melakukan HTTP Request (menggunakan pustaka requests) ke OpenWeatherMap berdasarkan nama kota dan API Key.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Data JSON (Cuaca &amp; Ramalan)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Analisis Cuaca Saat Ini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Ekstraksi data suhu, kelembapan, angin, dan deskripsi cuaca dari respons API berstatus 200.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Informasi Cuaca Saat Ini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Filter Ramalan Cuaca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Iterasi data forecast dan penyaringan berbasis kondisi tanggal baru pada jam khusus (12:00:00).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Ramalan Cuaca Harian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1"/>
          <p:cNvSpPr/>
          <p:nvPr/>
        </p:nvSpPr>
        <p:spPr>
          <a:xfrm>
            <a:off x="571500" y="3548062"/>
            <a:ext cx="241935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2990850" y="3548062"/>
            <a:ext cx="611951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9110364" y="3548062"/>
            <a:ext cx="251013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71500" y="4243387"/>
            <a:ext cx="241935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2990850" y="4243387"/>
            <a:ext cx="611951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9110364" y="4243387"/>
            <a:ext cx="251013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71500" y="4938712"/>
            <a:ext cx="241935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2990850" y="4938712"/>
            <a:ext cx="611951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9110364" y="4938712"/>
            <a:ext cx="251013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71500" y="5634037"/>
            <a:ext cx="241935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2990850" y="5634037"/>
            <a:ext cx="611951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9110364" y="5634037"/>
            <a:ext cx="251013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800100" y="571500"/>
            <a:ext cx="1136142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Fungsionalitas Aplikasi Cuaca</a:t>
            </a:r>
            <a:endParaRPr lang="en-US" sz="3900" b="1" i="0" u="none" strike="noStrike" cap="none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4432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21"/>
          <p:cNvGraphicFramePr/>
          <p:nvPr/>
        </p:nvGraphicFramePr>
        <p:xfrm>
          <a:off x="571500" y="2181225"/>
          <a:ext cx="11049000" cy="3467125"/>
        </p:xfrm>
        <a:graphic>
          <a:graphicData uri="http://schemas.openxmlformats.org/drawingml/2006/table">
            <a:tbl>
              <a:tblPr firstRow="1" bandRow="1">
                <a:noFill/>
                <a:tableStyleId>{64501091-0DF0-4769-BFB7-51C9134A181A}</a:tableStyleId>
              </a:tblPr>
              <a:tblGrid>
                <a:gridCol w="2419350"/>
                <a:gridCol w="6119525"/>
                <a:gridCol w="2510125"/>
              </a:tblGrid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Fitur Utama</a:t>
                      </a:r>
                      <a:endParaRPr lang="en-US" sz="1500" b="1" i="0" u="none" strike="noStrike" cap="none">
                        <a:solidFill>
                          <a:srgbClr val="2DD4BF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Deskripsi Logika</a:t>
                      </a:r>
                      <a:endParaRPr lang="en-US" sz="1500" b="1" i="0" u="none" strike="noStrike" cap="none">
                        <a:solidFill>
                          <a:srgbClr val="2DD4BF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Output</a:t>
                      </a:r>
                      <a:endParaRPr lang="en-US" sz="1500" b="1" i="0" u="none" strike="noStrike" cap="none">
                        <a:solidFill>
                          <a:srgbClr val="2DD4BF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Rekomendasi Pintar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Kondisional (IF &amp; any()) mendeteksi kata kunci cuaca (hujan/terik/dingin) untuk menentukan tips tambahan.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Tips / Rekomendasi Pintar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Penanganan Error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Kondisional (try-except) untuk mendeteksi kota tidak ditemukan, gangguan internet, atau kegagalan sistem.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i="1"/>
                        <a:t>Pesan Error di Konsol</a:t>
                      </a:r>
                      <a:endParaRPr lang="en-US" altLang="en-US" i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1"/>
          <p:cNvSpPr/>
          <p:nvPr/>
        </p:nvSpPr>
        <p:spPr>
          <a:xfrm>
            <a:off x="571500" y="3548062"/>
            <a:ext cx="241935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2990850" y="3548062"/>
            <a:ext cx="611951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9110364" y="3548062"/>
            <a:ext cx="251013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71500" y="4243387"/>
            <a:ext cx="241935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2990850" y="4243387"/>
            <a:ext cx="611951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9110364" y="4243387"/>
            <a:ext cx="251013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800100" y="571500"/>
            <a:ext cx="1136142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Fungsionalitas Aplikasi Cuaca</a:t>
            </a:r>
            <a:endParaRPr lang="en-US" sz="3900" b="1" i="0" u="none" strike="noStrike" cap="none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2510551" y="2114550"/>
            <a:ext cx="7170896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DD4B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Ada Pertanyaan?</a:t>
            </a:r>
            <a:endParaRPr lang="en-US" sz="5400" b="1" i="0" u="none" strike="noStrike" cap="none">
              <a:solidFill>
                <a:srgbClr val="2DD4B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619750" y="3219450"/>
            <a:ext cx="952500" cy="571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2681287" y="3562350"/>
            <a:ext cx="6829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Terima kasih atas perhatian Anda. Mari diskusikan detail teknis lebih lanjut.</a:t>
            </a:r>
            <a:endParaRPr lang="en-US" sz="15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2681287" y="4788535"/>
            <a:ext cx="6829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DD4B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Intro to Python</a:t>
            </a: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4418</Words>
  <Application>WPS Presentation</Application>
  <PresentationFormat/>
  <Paragraphs>178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Urbanist</vt:lpstr>
      <vt:lpstr>Inter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20250801259 Shakil Surya Ramad</cp:lastModifiedBy>
  <cp:revision>3</cp:revision>
  <dcterms:created xsi:type="dcterms:W3CDTF">2026-06-07T02:13:40Z</dcterms:created>
  <dcterms:modified xsi:type="dcterms:W3CDTF">2026-06-07T02:31:18Z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044F1269B1FE45FD9F3949A798B6BC9F_12</vt:lpwstr>
  </property>
</Properties>
</file>